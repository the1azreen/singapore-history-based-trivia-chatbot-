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obo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D5A4C24-98B7-4F8A-8158-C5EBF010714C}">
  <a:tblStyle styleId="{6D5A4C24-98B7-4F8A-8158-C5EBF010714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9e470d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9e47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Good morning, everyone. We are Group 4, and today we’ll be presenting our Singapore History-Based Trivia Chatbot. Our team members are Azreen, Justin, myself, Jun Kai, and Jit.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6f9e470d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6f9e470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Singapore’s rich history is often overlooked due to accessibility challenges and outdated presentation methods.</a:t>
            </a:r>
            <a:endParaRPr/>
          </a:p>
          <a:p>
            <a:pPr indent="0" lvl="0" marL="0" rtl="0" algn="l">
              <a:spcBef>
                <a:spcPts val="0"/>
              </a:spcBef>
              <a:spcAft>
                <a:spcPts val="0"/>
              </a:spcAft>
              <a:buNone/>
            </a:pPr>
            <a:r>
              <a:rPr lang="en"/>
              <a:t>Our chatbot aims to enhance engagement by providing interactive and personalized historical content.</a:t>
            </a:r>
            <a:endParaRPr/>
          </a:p>
          <a:p>
            <a:pPr indent="0" lvl="0" marL="0" rtl="0" algn="l">
              <a:lnSpc>
                <a:spcPct val="115000"/>
              </a:lnSpc>
              <a:spcBef>
                <a:spcPts val="1200"/>
              </a:spcBef>
              <a:spcAft>
                <a:spcPts val="0"/>
              </a:spcAft>
              <a:buClr>
                <a:schemeClr val="dk1"/>
              </a:buClr>
              <a:buSzPts val="1100"/>
              <a:buFont typeface="Arial"/>
              <a:buNone/>
            </a:pPr>
            <a:r>
              <a:rPr lang="en"/>
              <a:t>There are three key issues:</a:t>
            </a:r>
            <a:endParaRPr/>
          </a:p>
          <a:p>
            <a:pPr indent="-298450" lvl="0" marL="457200" rtl="0" algn="l">
              <a:lnSpc>
                <a:spcPct val="115000"/>
              </a:lnSpc>
              <a:spcBef>
                <a:spcPts val="1200"/>
              </a:spcBef>
              <a:spcAft>
                <a:spcPts val="0"/>
              </a:spcAft>
              <a:buClr>
                <a:schemeClr val="dk1"/>
              </a:buClr>
              <a:buSzPts val="1100"/>
              <a:buAutoNum type="arabicPeriod"/>
            </a:pPr>
            <a:r>
              <a:rPr lang="en"/>
              <a:t>Tourists lack deep insights into historical sites beyond guidebooks.</a:t>
            </a:r>
            <a:endParaRPr/>
          </a:p>
          <a:p>
            <a:pPr indent="-298450" lvl="0" marL="457200" rtl="0" algn="l">
              <a:lnSpc>
                <a:spcPct val="115000"/>
              </a:lnSpc>
              <a:spcBef>
                <a:spcPts val="0"/>
              </a:spcBef>
              <a:spcAft>
                <a:spcPts val="0"/>
              </a:spcAft>
              <a:buClr>
                <a:schemeClr val="dk1"/>
              </a:buClr>
              <a:buSzPts val="1100"/>
              <a:buAutoNum type="arabicPeriod"/>
            </a:pPr>
            <a:r>
              <a:rPr lang="en"/>
              <a:t>Historical education is standardized and not tailored to individual interests.</a:t>
            </a:r>
            <a:endParaRPr/>
          </a:p>
          <a:p>
            <a:pPr indent="-298450" lvl="0" marL="457200" rtl="0" algn="l">
              <a:lnSpc>
                <a:spcPct val="115000"/>
              </a:lnSpc>
              <a:spcBef>
                <a:spcPts val="0"/>
              </a:spcBef>
              <a:spcAft>
                <a:spcPts val="0"/>
              </a:spcAft>
              <a:buClr>
                <a:schemeClr val="dk1"/>
              </a:buClr>
              <a:buSzPts val="1100"/>
              <a:buAutoNum type="arabicPeriod"/>
            </a:pPr>
            <a:r>
              <a:rPr lang="en"/>
              <a:t>Many people lose interest in Singapore’s history after formal education.</a:t>
            </a:r>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333b137cc0_2_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333b137cc0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Our solution is an AI-powered chatbot specializing in Singapore’s history which we downloaded the entire model, not just calling an api key which gives us full customisation of it.</a:t>
            </a:r>
            <a:endParaRPr/>
          </a:p>
          <a:p>
            <a:pPr indent="-298450" lvl="0" marL="457200" rtl="0" algn="l">
              <a:lnSpc>
                <a:spcPct val="115000"/>
              </a:lnSpc>
              <a:spcBef>
                <a:spcPts val="1200"/>
              </a:spcBef>
              <a:spcAft>
                <a:spcPts val="0"/>
              </a:spcAft>
              <a:buClr>
                <a:schemeClr val="dk1"/>
              </a:buClr>
              <a:buSzPts val="1100"/>
              <a:buChar char="●"/>
            </a:pPr>
            <a:r>
              <a:rPr lang="en"/>
              <a:t>It personalizes learning using NLP and RAG.</a:t>
            </a:r>
            <a:endParaRPr/>
          </a:p>
          <a:p>
            <a:pPr indent="-298450" lvl="0" marL="457200" rtl="0" algn="l">
              <a:lnSpc>
                <a:spcPct val="115000"/>
              </a:lnSpc>
              <a:spcBef>
                <a:spcPts val="0"/>
              </a:spcBef>
              <a:spcAft>
                <a:spcPts val="0"/>
              </a:spcAft>
              <a:buClr>
                <a:schemeClr val="dk1"/>
              </a:buClr>
              <a:buSzPts val="1100"/>
              <a:buChar char="●"/>
            </a:pPr>
            <a:r>
              <a:rPr lang="en"/>
              <a:t>Built on the SIT library, it delivers well-sourced historical content.</a:t>
            </a:r>
            <a:endParaRPr/>
          </a:p>
          <a:p>
            <a:pPr indent="-298450" lvl="0" marL="457200" rtl="0" algn="l">
              <a:lnSpc>
                <a:spcPct val="115000"/>
              </a:lnSpc>
              <a:spcBef>
                <a:spcPts val="0"/>
              </a:spcBef>
              <a:spcAft>
                <a:spcPts val="0"/>
              </a:spcAft>
              <a:buClr>
                <a:schemeClr val="dk1"/>
              </a:buClr>
              <a:buSzPts val="1100"/>
              <a:buChar char="●"/>
            </a:pPr>
            <a:r>
              <a:rPr lang="en"/>
              <a:t>The chatbot integrates a fine-tuned model and retrieval-augmented generation to ensure accuracy and engagement.</a:t>
            </a:r>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421ef605e6_0_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421ef605e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the models that we experimented with and we discovered that phi3 mini has the best inference rating which refers to the performance of each model during real-time execution or prediction. However, it has a long training time given the computing resources we have. My </a:t>
            </a:r>
            <a:r>
              <a:rPr lang="en"/>
              <a:t>teammate</a:t>
            </a:r>
            <a:r>
              <a:rPr lang="en"/>
              <a:t> azreen will elaborate more on this.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4216f40922_0_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4216f4092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4216f40922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4216f4092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33b137cc0_2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333b137cc0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216f40922_0_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4216f4092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4216f40922_0_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4216f4092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333b137cc0_2_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333b137cc0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333b137cc0_2_1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333b137cc0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333b137cc0_2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333b137cc0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600">
                <a:solidFill>
                  <a:schemeClr val="dk1"/>
                </a:solidFill>
              </a:rPr>
              <a:t>To prevent hallucinations and keep responses relevant, we implemented a term-based guardrail. It uses a </a:t>
            </a:r>
            <a:r>
              <a:rPr b="1" lang="en" sz="1600">
                <a:solidFill>
                  <a:schemeClr val="dk1"/>
                </a:solidFill>
              </a:rPr>
              <a:t>Comprehensive Lexicon</a:t>
            </a:r>
            <a:r>
              <a:rPr lang="en" sz="1600">
                <a:solidFill>
                  <a:schemeClr val="dk1"/>
                </a:solidFill>
              </a:rPr>
              <a:t> of 100+ Singapore history terms, a </a:t>
            </a:r>
            <a:r>
              <a:rPr b="1" lang="en" sz="1600">
                <a:solidFill>
                  <a:schemeClr val="dk1"/>
                </a:solidFill>
              </a:rPr>
              <a:t>Non-History Term Detector</a:t>
            </a:r>
            <a:r>
              <a:rPr lang="en" sz="1600">
                <a:solidFill>
                  <a:schemeClr val="dk1"/>
                </a:solidFill>
              </a:rPr>
              <a:t> to filter unrelated queries, and </a:t>
            </a:r>
            <a:r>
              <a:rPr b="1" lang="en" sz="1600">
                <a:solidFill>
                  <a:schemeClr val="dk1"/>
                </a:solidFill>
              </a:rPr>
              <a:t>Weighted Decision Logic</a:t>
            </a:r>
            <a:r>
              <a:rPr lang="en" sz="1600">
                <a:solidFill>
                  <a:schemeClr val="dk1"/>
                </a:solidFill>
              </a:rPr>
              <a:t> to balance between history-related and off-topic terms. This ensures our chatbot stays focused while avoiding overly strict filtering</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600">
                <a:solidFill>
                  <a:schemeClr val="dk1"/>
                </a:solidFill>
              </a:rPr>
              <a:t>We chose term-based over hardcoding full questions because:</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b="1" lang="en" sz="1600">
                <a:solidFill>
                  <a:schemeClr val="dk1"/>
                </a:solidFill>
              </a:rPr>
              <a:t>Flexibility</a:t>
            </a:r>
            <a:r>
              <a:rPr lang="en" sz="1600">
                <a:solidFill>
                  <a:schemeClr val="dk1"/>
                </a:solidFill>
              </a:rPr>
              <a:t>: Users phrase questions differently, and keyword matching adapts better.</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 sz="1600">
                <a:solidFill>
                  <a:schemeClr val="dk1"/>
                </a:solidFill>
              </a:rPr>
              <a:t>Scalability</a:t>
            </a:r>
            <a:r>
              <a:rPr lang="en" sz="1600">
                <a:solidFill>
                  <a:schemeClr val="dk1"/>
                </a:solidFill>
              </a:rPr>
              <a:t>: Updating keyword lists is easier than maintaining a database of fixed questions.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 sz="1600">
                <a:solidFill>
                  <a:schemeClr val="dk1"/>
                </a:solidFill>
              </a:rPr>
              <a:t>Efficiency</a:t>
            </a:r>
            <a:r>
              <a:rPr lang="en" sz="1600">
                <a:solidFill>
                  <a:schemeClr val="dk1"/>
                </a:solidFill>
              </a:rPr>
              <a:t>: Quick filtering without complex processing.</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600">
                <a:solidFill>
                  <a:schemeClr val="dk1"/>
                </a:solidFill>
              </a:rPr>
              <a:t>Guardrail Strictness – Pros &amp; Cons</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b="1" lang="en" sz="1600">
                <a:solidFill>
                  <a:schemeClr val="dk1"/>
                </a:solidFill>
              </a:rPr>
              <a:t>Too strict</a:t>
            </a:r>
            <a:r>
              <a:rPr lang="en" sz="1600">
                <a:solidFill>
                  <a:schemeClr val="dk1"/>
                </a:solidFill>
              </a:rPr>
              <a:t> → May wrongly reject valid questions, frustrating users.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 sz="1600">
                <a:solidFill>
                  <a:schemeClr val="dk1"/>
                </a:solidFill>
              </a:rPr>
              <a:t>Too loose</a:t>
            </a:r>
            <a:r>
              <a:rPr lang="en" sz="1600">
                <a:solidFill>
                  <a:schemeClr val="dk1"/>
                </a:solidFill>
              </a:rPr>
              <a:t> → Risk of off-topic answers and hallucinations.</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600">
                <a:solidFill>
                  <a:schemeClr val="dk1"/>
                </a:solidFill>
              </a:rPr>
              <a:t>Our </a:t>
            </a:r>
            <a:r>
              <a:rPr b="1" lang="en" sz="1600">
                <a:solidFill>
                  <a:schemeClr val="dk1"/>
                </a:solidFill>
              </a:rPr>
              <a:t>weighted decision logic</a:t>
            </a:r>
            <a:r>
              <a:rPr lang="en" sz="1600">
                <a:solidFill>
                  <a:schemeClr val="dk1"/>
                </a:solidFill>
              </a:rPr>
              <a:t> helps maintain the right balance."</a:t>
            </a:r>
            <a:endParaRPr sz="1600">
              <a:solidFill>
                <a:schemeClr val="dk1"/>
              </a:solidFill>
            </a:endParaRPr>
          </a:p>
          <a:p>
            <a:pPr indent="0" lvl="0" marL="0" rtl="0" algn="l">
              <a:spcBef>
                <a:spcPts val="1200"/>
              </a:spcBef>
              <a:spcAft>
                <a:spcPts val="0"/>
              </a:spcAft>
              <a:buNone/>
            </a:pPr>
            <a:r>
              <a:t/>
            </a:r>
            <a:endParaRPr sz="16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411ed6ae02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411ed6ae0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42594d6a09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42594d6a0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4216f40922_0_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4216f40922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421ef605e6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421ef605e6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40905eef5c_1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40905eef5c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c6f9e470d_0_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c6f9e470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1600"/>
              </a:spcBef>
              <a:spcAft>
                <a:spcPts val="0"/>
              </a:spcAft>
              <a:buClr>
                <a:schemeClr val="lt1"/>
              </a:buClr>
              <a:buSzPts val="1400"/>
              <a:buChar char="○"/>
              <a:defRPr>
                <a:solidFill>
                  <a:schemeClr val="lt1"/>
                </a:solidFill>
              </a:defRPr>
            </a:lvl2pPr>
            <a:lvl3pPr indent="-317500" lvl="2" marL="1371600" algn="ctr">
              <a:spcBef>
                <a:spcPts val="1600"/>
              </a:spcBef>
              <a:spcAft>
                <a:spcPts val="0"/>
              </a:spcAft>
              <a:buClr>
                <a:schemeClr val="lt1"/>
              </a:buClr>
              <a:buSzPts val="1400"/>
              <a:buChar char="■"/>
              <a:defRPr>
                <a:solidFill>
                  <a:schemeClr val="lt1"/>
                </a:solidFill>
              </a:defRPr>
            </a:lvl3pPr>
            <a:lvl4pPr indent="-317500" lvl="3" marL="1828800" algn="ctr">
              <a:spcBef>
                <a:spcPts val="1600"/>
              </a:spcBef>
              <a:spcAft>
                <a:spcPts val="0"/>
              </a:spcAft>
              <a:buClr>
                <a:schemeClr val="lt1"/>
              </a:buClr>
              <a:buSzPts val="1400"/>
              <a:buChar char="●"/>
              <a:defRPr>
                <a:solidFill>
                  <a:schemeClr val="lt1"/>
                </a:solidFill>
              </a:defRPr>
            </a:lvl4pPr>
            <a:lvl5pPr indent="-317500" lvl="4" marL="2286000" algn="ctr">
              <a:spcBef>
                <a:spcPts val="1600"/>
              </a:spcBef>
              <a:spcAft>
                <a:spcPts val="0"/>
              </a:spcAft>
              <a:buClr>
                <a:schemeClr val="lt1"/>
              </a:buClr>
              <a:buSzPts val="1400"/>
              <a:buChar char="○"/>
              <a:defRPr>
                <a:solidFill>
                  <a:schemeClr val="lt1"/>
                </a:solidFill>
              </a:defRPr>
            </a:lvl5pPr>
            <a:lvl6pPr indent="-317500" lvl="5" marL="2743200" algn="ctr">
              <a:spcBef>
                <a:spcPts val="1600"/>
              </a:spcBef>
              <a:spcAft>
                <a:spcPts val="0"/>
              </a:spcAft>
              <a:buClr>
                <a:schemeClr val="lt1"/>
              </a:buClr>
              <a:buSzPts val="1400"/>
              <a:buChar char="■"/>
              <a:defRPr>
                <a:solidFill>
                  <a:schemeClr val="lt1"/>
                </a:solidFill>
              </a:defRPr>
            </a:lvl6pPr>
            <a:lvl7pPr indent="-317500" lvl="6" marL="3200400" algn="ctr">
              <a:spcBef>
                <a:spcPts val="1600"/>
              </a:spcBef>
              <a:spcAft>
                <a:spcPts val="0"/>
              </a:spcAft>
              <a:buClr>
                <a:schemeClr val="lt1"/>
              </a:buClr>
              <a:buSzPts val="1400"/>
              <a:buChar char="●"/>
              <a:defRPr>
                <a:solidFill>
                  <a:schemeClr val="lt1"/>
                </a:solidFill>
              </a:defRPr>
            </a:lvl7pPr>
            <a:lvl8pPr indent="-317500" lvl="7" marL="3657600" algn="ctr">
              <a:spcBef>
                <a:spcPts val="1600"/>
              </a:spcBef>
              <a:spcAft>
                <a:spcPts val="0"/>
              </a:spcAft>
              <a:buClr>
                <a:schemeClr val="lt1"/>
              </a:buClr>
              <a:buSzPts val="1400"/>
              <a:buChar char="○"/>
              <a:defRPr>
                <a:solidFill>
                  <a:schemeClr val="lt1"/>
                </a:solidFill>
              </a:defRPr>
            </a:lvl8pPr>
            <a:lvl9pPr indent="-317500" lvl="8" marL="4114800" algn="ctr">
              <a:spcBef>
                <a:spcPts val="1600"/>
              </a:spcBef>
              <a:spcAft>
                <a:spcPts val="160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Group 4: Singapore History-Based Trivia Chatbot</a:t>
            </a:r>
            <a:endParaRPr/>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Muhammad Azreen Bin Muhammad</a:t>
            </a:r>
            <a:endParaRPr sz="1400"/>
          </a:p>
          <a:p>
            <a:pPr indent="0" lvl="0" marL="0" rtl="0" algn="l">
              <a:spcBef>
                <a:spcPts val="0"/>
              </a:spcBef>
              <a:spcAft>
                <a:spcPts val="0"/>
              </a:spcAft>
              <a:buNone/>
            </a:pPr>
            <a:r>
              <a:rPr lang="en" sz="1400"/>
              <a:t>Justin Tan Yong An</a:t>
            </a:r>
            <a:endParaRPr sz="1400"/>
          </a:p>
          <a:p>
            <a:pPr indent="0" lvl="0" marL="0" rtl="0" algn="l">
              <a:spcBef>
                <a:spcPts val="0"/>
              </a:spcBef>
              <a:spcAft>
                <a:spcPts val="0"/>
              </a:spcAft>
              <a:buNone/>
            </a:pPr>
            <a:r>
              <a:rPr lang="en" sz="1400"/>
              <a:t>Leong Tuck Ming Kenan</a:t>
            </a:r>
            <a:endParaRPr sz="1400"/>
          </a:p>
          <a:p>
            <a:pPr indent="0" lvl="0" marL="0" rtl="0" algn="l">
              <a:spcBef>
                <a:spcPts val="0"/>
              </a:spcBef>
              <a:spcAft>
                <a:spcPts val="0"/>
              </a:spcAft>
              <a:buNone/>
            </a:pPr>
            <a:r>
              <a:rPr lang="en" sz="1400"/>
              <a:t>Wong Jun Kai</a:t>
            </a:r>
            <a:endParaRPr sz="1400"/>
          </a:p>
          <a:p>
            <a:pPr indent="0" lvl="0" marL="0" rtl="0" algn="l">
              <a:spcBef>
                <a:spcPts val="0"/>
              </a:spcBef>
              <a:spcAft>
                <a:spcPts val="0"/>
              </a:spcAft>
              <a:buNone/>
            </a:pPr>
            <a:r>
              <a:rPr lang="en" sz="1400"/>
              <a:t>Chan Jit Lin</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Background</a:t>
            </a:r>
            <a:endParaRPr/>
          </a:p>
        </p:txBody>
      </p:sp>
      <p:sp>
        <p:nvSpPr>
          <p:cNvPr id="92" name="Google Shape;92;p14"/>
          <p:cNvSpPr txBox="1"/>
          <p:nvPr/>
        </p:nvSpPr>
        <p:spPr>
          <a:xfrm>
            <a:off x="257100" y="1120900"/>
            <a:ext cx="8629500" cy="381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Singapore's historical resources remain largely untapped due to accessibility challenges and traditional presentation formats, creating an opportunity for technology-enhanced engagement with the nation's rich past.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AutoNum type="arabicPeriod"/>
            </a:pPr>
            <a:r>
              <a:rPr lang="en" sz="1800">
                <a:solidFill>
                  <a:schemeClr val="dk2"/>
                </a:solidFill>
                <a:latin typeface="Roboto"/>
                <a:ea typeface="Roboto"/>
                <a:cs typeface="Roboto"/>
                <a:sym typeface="Roboto"/>
              </a:rPr>
              <a:t>Tourism Support: Offer tourists deeper context about historical sites, cultural practices, and significant events beyond what standard guidebooks provide.</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AutoNum type="arabicPeriod"/>
            </a:pPr>
            <a:r>
              <a:rPr lang="en" sz="1800">
                <a:solidFill>
                  <a:schemeClr val="dk2"/>
                </a:solidFill>
                <a:latin typeface="Roboto"/>
                <a:ea typeface="Roboto"/>
                <a:cs typeface="Roboto"/>
                <a:sym typeface="Roboto"/>
              </a:rPr>
              <a:t>Personalization Need: Current historical education approaches often follow standardized formats, whereas a RAG-powered chatbot can deliver customized historical content based on individual interests, knowledge levels, and learning objectives.</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AutoNum type="arabicPeriod"/>
            </a:pPr>
            <a:r>
              <a:rPr lang="en" sz="1800">
                <a:solidFill>
                  <a:schemeClr val="dk2"/>
                </a:solidFill>
                <a:latin typeface="Roboto"/>
                <a:ea typeface="Roboto"/>
                <a:cs typeface="Roboto"/>
                <a:sym typeface="Roboto"/>
              </a:rPr>
              <a:t>Lack of awareness: People in general might not have much interest outside of their formal education, regarding Singapore’s history</a:t>
            </a:r>
            <a:endParaRPr sz="18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a:t>
            </a:r>
            <a:endParaRPr/>
          </a:p>
        </p:txBody>
      </p:sp>
      <p:sp>
        <p:nvSpPr>
          <p:cNvPr id="98" name="Google Shape;98;p15"/>
          <p:cNvSpPr txBox="1"/>
          <p:nvPr/>
        </p:nvSpPr>
        <p:spPr>
          <a:xfrm>
            <a:off x="257100" y="1120900"/>
            <a:ext cx="8629500" cy="3819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Develop a personalized NLP learning assistant specializing in Singapore’s history.</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The system will leverage the SIT library to create an engaging and educational platform delivering accurate and well-sourced historical information through interactive conversations</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The chat-bot utilizes a fine tuned model based on the dataset as well as Retrieval-Augmented Generation (RAG) technology.</a:t>
            </a:r>
            <a:endParaRPr sz="1800">
              <a:solidFill>
                <a:schemeClr val="dk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311700" y="32535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 of Models Used</a:t>
            </a:r>
            <a:endParaRPr/>
          </a:p>
        </p:txBody>
      </p:sp>
      <p:graphicFrame>
        <p:nvGraphicFramePr>
          <p:cNvPr id="104" name="Google Shape;104;p16"/>
          <p:cNvGraphicFramePr/>
          <p:nvPr/>
        </p:nvGraphicFramePr>
        <p:xfrm>
          <a:off x="691088" y="1068925"/>
          <a:ext cx="3000000" cy="3000000"/>
        </p:xfrm>
        <a:graphic>
          <a:graphicData uri="http://schemas.openxmlformats.org/drawingml/2006/table">
            <a:tbl>
              <a:tblPr>
                <a:noFill/>
                <a:tableStyleId>{6D5A4C24-98B7-4F8A-8158-C5EBF010714C}</a:tableStyleId>
              </a:tblPr>
              <a:tblGrid>
                <a:gridCol w="2587275"/>
                <a:gridCol w="2587275"/>
                <a:gridCol w="2587275"/>
              </a:tblGrid>
              <a:tr h="292150">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Name</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Model Size</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Inference Rating</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93975">
                <a:tc>
                  <a:txBody>
                    <a:bodyPr/>
                    <a:lstStyle/>
                    <a:p>
                      <a:pPr indent="0" lvl="0" marL="0" rtl="0" algn="l">
                        <a:lnSpc>
                          <a:spcPct val="115000"/>
                        </a:lnSpc>
                        <a:spcBef>
                          <a:spcPts val="0"/>
                        </a:spcBef>
                        <a:spcAft>
                          <a:spcPts val="0"/>
                        </a:spcAft>
                        <a:buNone/>
                      </a:pPr>
                      <a:r>
                        <a:rPr lang="en" sz="1300">
                          <a:solidFill>
                            <a:schemeClr val="dk2"/>
                          </a:solidFill>
                          <a:latin typeface="Roboto"/>
                          <a:ea typeface="Roboto"/>
                          <a:cs typeface="Roboto"/>
                          <a:sym typeface="Roboto"/>
                        </a:rPr>
                        <a:t>Opt1.3</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1.3 Billion</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93975">
                <a:tc>
                  <a:txBody>
                    <a:bodyPr/>
                    <a:lstStyle/>
                    <a:p>
                      <a:pPr indent="0" lvl="0" marL="0" rtl="0" algn="l">
                        <a:lnSpc>
                          <a:spcPct val="115000"/>
                        </a:lnSpc>
                        <a:spcBef>
                          <a:spcPts val="0"/>
                        </a:spcBef>
                        <a:spcAft>
                          <a:spcPts val="0"/>
                        </a:spcAft>
                        <a:buNone/>
                      </a:pPr>
                      <a:r>
                        <a:rPr lang="en" sz="1300">
                          <a:solidFill>
                            <a:schemeClr val="dk2"/>
                          </a:solidFill>
                          <a:latin typeface="Roboto"/>
                          <a:ea typeface="Roboto"/>
                          <a:cs typeface="Roboto"/>
                          <a:sym typeface="Roboto"/>
                        </a:rPr>
                        <a:t>Mistral3B </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3 Billion</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93975">
                <a:tc>
                  <a:txBody>
                    <a:bodyPr/>
                    <a:lstStyle/>
                    <a:p>
                      <a:pPr indent="0" lvl="0" marL="0" rtl="0" algn="l">
                        <a:lnSpc>
                          <a:spcPct val="115000"/>
                        </a:lnSpc>
                        <a:spcBef>
                          <a:spcPts val="0"/>
                        </a:spcBef>
                        <a:spcAft>
                          <a:spcPts val="0"/>
                        </a:spcAft>
                        <a:buNone/>
                      </a:pPr>
                      <a:r>
                        <a:rPr lang="en" sz="1300">
                          <a:solidFill>
                            <a:schemeClr val="dk2"/>
                          </a:solidFill>
                          <a:latin typeface="Roboto"/>
                          <a:ea typeface="Roboto"/>
                          <a:cs typeface="Roboto"/>
                          <a:sym typeface="Roboto"/>
                        </a:rPr>
                        <a:t>Mistral7B</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7 Billion</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96900">
                <a:tc>
                  <a:txBody>
                    <a:bodyPr/>
                    <a:lstStyle/>
                    <a:p>
                      <a:pPr indent="0" lvl="0" marL="0" rtl="0" algn="l">
                        <a:lnSpc>
                          <a:spcPct val="115000"/>
                        </a:lnSpc>
                        <a:spcBef>
                          <a:spcPts val="0"/>
                        </a:spcBef>
                        <a:spcAft>
                          <a:spcPts val="0"/>
                        </a:spcAft>
                        <a:buNone/>
                      </a:pPr>
                      <a:r>
                        <a:rPr lang="en" sz="1300">
                          <a:solidFill>
                            <a:schemeClr val="dk2"/>
                          </a:solidFill>
                          <a:latin typeface="Roboto"/>
                          <a:ea typeface="Roboto"/>
                          <a:cs typeface="Roboto"/>
                          <a:sym typeface="Roboto"/>
                        </a:rPr>
                        <a:t>Deepseek-LLM-7B-Chat</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7 Billion</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93975">
                <a:tc>
                  <a:txBody>
                    <a:bodyPr/>
                    <a:lstStyle/>
                    <a:p>
                      <a:pPr indent="0" lvl="0" marL="0" rtl="0" algn="l">
                        <a:lnSpc>
                          <a:spcPct val="115000"/>
                        </a:lnSpc>
                        <a:spcBef>
                          <a:spcPts val="0"/>
                        </a:spcBef>
                        <a:spcAft>
                          <a:spcPts val="0"/>
                        </a:spcAft>
                        <a:buNone/>
                      </a:pPr>
                      <a:r>
                        <a:rPr lang="en" sz="1300">
                          <a:solidFill>
                            <a:schemeClr val="dk2"/>
                          </a:solidFill>
                          <a:latin typeface="Roboto"/>
                          <a:ea typeface="Roboto"/>
                          <a:cs typeface="Roboto"/>
                          <a:sym typeface="Roboto"/>
                        </a:rPr>
                        <a:t>T5-Small</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60 Million</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93975">
                <a:tc>
                  <a:txBody>
                    <a:bodyPr/>
                    <a:lstStyle/>
                    <a:p>
                      <a:pPr indent="0" lvl="0" marL="0" rtl="0" algn="l">
                        <a:lnSpc>
                          <a:spcPct val="115000"/>
                        </a:lnSpc>
                        <a:spcBef>
                          <a:spcPts val="0"/>
                        </a:spcBef>
                        <a:spcAft>
                          <a:spcPts val="0"/>
                        </a:spcAft>
                        <a:buNone/>
                      </a:pPr>
                      <a:r>
                        <a:rPr lang="en" sz="1300">
                          <a:solidFill>
                            <a:schemeClr val="dk2"/>
                          </a:solidFill>
                          <a:latin typeface="Roboto"/>
                          <a:ea typeface="Roboto"/>
                          <a:cs typeface="Roboto"/>
                          <a:sym typeface="Roboto"/>
                        </a:rPr>
                        <a:t>Meta-Llama-3-8B </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8 Billion</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600">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93975">
                <a:tc>
                  <a:txBody>
                    <a:bodyPr/>
                    <a:lstStyle/>
                    <a:p>
                      <a:pPr indent="0" lvl="0" marL="0" rtl="0" algn="l">
                        <a:lnSpc>
                          <a:spcPct val="115000"/>
                        </a:lnSpc>
                        <a:spcBef>
                          <a:spcPts val="0"/>
                        </a:spcBef>
                        <a:spcAft>
                          <a:spcPts val="0"/>
                        </a:spcAft>
                        <a:buNone/>
                      </a:pPr>
                      <a:r>
                        <a:rPr lang="en" sz="1300">
                          <a:solidFill>
                            <a:schemeClr val="dk2"/>
                          </a:solidFill>
                          <a:latin typeface="Roboto"/>
                          <a:ea typeface="Roboto"/>
                          <a:cs typeface="Roboto"/>
                          <a:sym typeface="Roboto"/>
                        </a:rPr>
                        <a:t>Phi3 Mini Instruct</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FF00"/>
                    </a:solidFill>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3.8 Billion</a:t>
                      </a:r>
                      <a:endParaRPr sz="1300">
                        <a:solidFill>
                          <a:schemeClr val="dk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FF00"/>
                    </a:solidFill>
                  </a:tcPr>
                </a:tc>
                <a:tc>
                  <a:txBody>
                    <a:bodyPr/>
                    <a:lstStyle/>
                    <a:p>
                      <a:pPr indent="0" lvl="0" marL="0" rtl="0" algn="l">
                        <a:spcBef>
                          <a:spcPts val="0"/>
                        </a:spcBef>
                        <a:spcAft>
                          <a:spcPts val="0"/>
                        </a:spcAft>
                        <a:buNone/>
                      </a:pPr>
                      <a:r>
                        <a:t/>
                      </a:r>
                      <a:endParaRPr sz="600">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FF00"/>
                    </a:solidFill>
                  </a:tcPr>
                </a:tc>
              </a:tr>
            </a:tbl>
          </a:graphicData>
        </a:graphic>
      </p:graphicFrame>
      <p:sp>
        <p:nvSpPr>
          <p:cNvPr id="105" name="Google Shape;105;p16"/>
          <p:cNvSpPr/>
          <p:nvPr/>
        </p:nvSpPr>
        <p:spPr>
          <a:xfrm>
            <a:off x="5969000" y="1471075"/>
            <a:ext cx="328200" cy="306900"/>
          </a:xfrm>
          <a:prstGeom prst="star5">
            <a:avLst>
              <a:gd fmla="val 19098" name="adj"/>
              <a:gd fmla="val 105146" name="hf"/>
              <a:gd fmla="val 110557"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6" name="Google Shape;106;p16"/>
          <p:cNvSpPr/>
          <p:nvPr/>
        </p:nvSpPr>
        <p:spPr>
          <a:xfrm>
            <a:off x="5969000" y="1983300"/>
            <a:ext cx="328200" cy="306900"/>
          </a:xfrm>
          <a:prstGeom prst="star5">
            <a:avLst>
              <a:gd fmla="val 19098" name="adj"/>
              <a:gd fmla="val 105146" name="hf"/>
              <a:gd fmla="val 110557"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7" name="Google Shape;107;p16"/>
          <p:cNvSpPr/>
          <p:nvPr/>
        </p:nvSpPr>
        <p:spPr>
          <a:xfrm>
            <a:off x="5969000" y="2465900"/>
            <a:ext cx="328200" cy="306900"/>
          </a:xfrm>
          <a:prstGeom prst="star5">
            <a:avLst>
              <a:gd fmla="val 19098" name="adj"/>
              <a:gd fmla="val 105146" name="hf"/>
              <a:gd fmla="val 110557"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8" name="Google Shape;108;p16"/>
          <p:cNvSpPr/>
          <p:nvPr/>
        </p:nvSpPr>
        <p:spPr>
          <a:xfrm>
            <a:off x="5969000" y="2963313"/>
            <a:ext cx="328200" cy="306900"/>
          </a:xfrm>
          <a:prstGeom prst="star5">
            <a:avLst>
              <a:gd fmla="val 19098" name="adj"/>
              <a:gd fmla="val 105146" name="hf"/>
              <a:gd fmla="val 110557"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9" name="Google Shape;109;p16"/>
          <p:cNvSpPr/>
          <p:nvPr/>
        </p:nvSpPr>
        <p:spPr>
          <a:xfrm>
            <a:off x="6350000" y="1983300"/>
            <a:ext cx="328200" cy="306900"/>
          </a:xfrm>
          <a:prstGeom prst="star5">
            <a:avLst>
              <a:gd fmla="val 19098" name="adj"/>
              <a:gd fmla="val 105146" name="hf"/>
              <a:gd fmla="val 110557"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0" name="Google Shape;110;p16"/>
          <p:cNvSpPr/>
          <p:nvPr/>
        </p:nvSpPr>
        <p:spPr>
          <a:xfrm>
            <a:off x="6358475" y="2465900"/>
            <a:ext cx="328200" cy="306900"/>
          </a:xfrm>
          <a:prstGeom prst="star5">
            <a:avLst>
              <a:gd fmla="val 19098" name="adj"/>
              <a:gd fmla="val 105146" name="hf"/>
              <a:gd fmla="val 110557"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1" name="Google Shape;111;p16"/>
          <p:cNvSpPr/>
          <p:nvPr/>
        </p:nvSpPr>
        <p:spPr>
          <a:xfrm>
            <a:off x="6350000" y="2968613"/>
            <a:ext cx="328200" cy="306900"/>
          </a:xfrm>
          <a:prstGeom prst="star5">
            <a:avLst>
              <a:gd fmla="val 19098" name="adj"/>
              <a:gd fmla="val 105146" name="hf"/>
              <a:gd fmla="val 110557"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2" name="Google Shape;112;p16"/>
          <p:cNvSpPr/>
          <p:nvPr/>
        </p:nvSpPr>
        <p:spPr>
          <a:xfrm>
            <a:off x="5969000" y="3460725"/>
            <a:ext cx="328200" cy="306900"/>
          </a:xfrm>
          <a:prstGeom prst="star5">
            <a:avLst>
              <a:gd fmla="val 19098" name="adj"/>
              <a:gd fmla="val 105146" name="hf"/>
              <a:gd fmla="val 110557"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3" name="Google Shape;113;p16"/>
          <p:cNvSpPr/>
          <p:nvPr/>
        </p:nvSpPr>
        <p:spPr>
          <a:xfrm>
            <a:off x="6358475" y="3953925"/>
            <a:ext cx="328200" cy="306900"/>
          </a:xfrm>
          <a:prstGeom prst="star5">
            <a:avLst>
              <a:gd fmla="val 19098" name="adj"/>
              <a:gd fmla="val 105146" name="hf"/>
              <a:gd fmla="val 110557"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4" name="Google Shape;114;p16"/>
          <p:cNvSpPr/>
          <p:nvPr/>
        </p:nvSpPr>
        <p:spPr>
          <a:xfrm>
            <a:off x="5969000" y="3953925"/>
            <a:ext cx="328200" cy="306900"/>
          </a:xfrm>
          <a:prstGeom prst="star5">
            <a:avLst>
              <a:gd fmla="val 19098" name="adj"/>
              <a:gd fmla="val 105146" name="hf"/>
              <a:gd fmla="val 110557"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5" name="Google Shape;115;p16"/>
          <p:cNvSpPr/>
          <p:nvPr/>
        </p:nvSpPr>
        <p:spPr>
          <a:xfrm>
            <a:off x="7137425" y="4449500"/>
            <a:ext cx="328200" cy="306900"/>
          </a:xfrm>
          <a:prstGeom prst="star5">
            <a:avLst>
              <a:gd fmla="val 19098" name="adj"/>
              <a:gd fmla="val 105146" name="hf"/>
              <a:gd fmla="val 110557"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6" name="Google Shape;116;p16"/>
          <p:cNvSpPr/>
          <p:nvPr/>
        </p:nvSpPr>
        <p:spPr>
          <a:xfrm>
            <a:off x="6747950" y="4449500"/>
            <a:ext cx="328200" cy="306900"/>
          </a:xfrm>
          <a:prstGeom prst="star5">
            <a:avLst>
              <a:gd fmla="val 19098" name="adj"/>
              <a:gd fmla="val 105146" name="hf"/>
              <a:gd fmla="val 110557"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7" name="Google Shape;117;p16"/>
          <p:cNvSpPr/>
          <p:nvPr/>
        </p:nvSpPr>
        <p:spPr>
          <a:xfrm>
            <a:off x="6358475" y="4447125"/>
            <a:ext cx="328200" cy="306900"/>
          </a:xfrm>
          <a:prstGeom prst="star5">
            <a:avLst>
              <a:gd fmla="val 19098" name="adj"/>
              <a:gd fmla="val 105146" name="hf"/>
              <a:gd fmla="val 110557"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8" name="Google Shape;118;p16"/>
          <p:cNvSpPr/>
          <p:nvPr/>
        </p:nvSpPr>
        <p:spPr>
          <a:xfrm>
            <a:off x="5969000" y="4447125"/>
            <a:ext cx="328200" cy="306900"/>
          </a:xfrm>
          <a:prstGeom prst="star5">
            <a:avLst>
              <a:gd fmla="val 19098" name="adj"/>
              <a:gd fmla="val 105146" name="hf"/>
              <a:gd fmla="val 110557"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7"/>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of choice Phi 3.5 Unsloth Variant </a:t>
            </a:r>
            <a:endParaRPr/>
          </a:p>
        </p:txBody>
      </p:sp>
      <p:pic>
        <p:nvPicPr>
          <p:cNvPr id="124" name="Google Shape;124;p17"/>
          <p:cNvPicPr preferRelativeResize="0"/>
          <p:nvPr/>
        </p:nvPicPr>
        <p:blipFill>
          <a:blip r:embed="rId3">
            <a:alphaModFix/>
          </a:blip>
          <a:stretch>
            <a:fillRect/>
          </a:stretch>
        </p:blipFill>
        <p:spPr>
          <a:xfrm>
            <a:off x="849588" y="1499000"/>
            <a:ext cx="7444825" cy="2779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8"/>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of choice Phi 3.5 Unsloth Variant </a:t>
            </a:r>
            <a:endParaRPr/>
          </a:p>
        </p:txBody>
      </p:sp>
      <p:sp>
        <p:nvSpPr>
          <p:cNvPr id="130" name="Google Shape;130;p18"/>
          <p:cNvSpPr txBox="1"/>
          <p:nvPr/>
        </p:nvSpPr>
        <p:spPr>
          <a:xfrm>
            <a:off x="257100" y="1120900"/>
            <a:ext cx="8629500" cy="4126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Roboto"/>
              <a:buChar char="●"/>
            </a:pPr>
            <a:r>
              <a:rPr b="1" lang="en" sz="1500">
                <a:solidFill>
                  <a:srgbClr val="242424"/>
                </a:solidFill>
                <a:highlight>
                  <a:srgbClr val="FFFFFF"/>
                </a:highlight>
                <a:latin typeface="Roboto"/>
                <a:ea typeface="Roboto"/>
                <a:cs typeface="Roboto"/>
                <a:sym typeface="Roboto"/>
              </a:rPr>
              <a:t>Open Source and Community-Driven:</a:t>
            </a:r>
            <a:r>
              <a:rPr lang="en" sz="1500">
                <a:solidFill>
                  <a:srgbClr val="242424"/>
                </a:solidFill>
                <a:highlight>
                  <a:srgbClr val="FFFFFF"/>
                </a:highlight>
                <a:latin typeface="Roboto"/>
                <a:ea typeface="Roboto"/>
                <a:cs typeface="Roboto"/>
                <a:sym typeface="Roboto"/>
              </a:rPr>
              <a:t> Unsloth is freely available as open-source, allowing immediate access to its capabilities. A strong community drives its continuous improvement, and users can find extensive resources, including benchmarks and reproducible notebooks, on GitHub and the Unsloth blog.</a:t>
            </a:r>
            <a:endParaRPr sz="1500">
              <a:solidFill>
                <a:srgbClr val="242424"/>
              </a:solidFill>
              <a:highlight>
                <a:srgbClr val="FFFFFF"/>
              </a:highlight>
              <a:latin typeface="Roboto"/>
              <a:ea typeface="Roboto"/>
              <a:cs typeface="Roboto"/>
              <a:sym typeface="Roboto"/>
            </a:endParaRPr>
          </a:p>
          <a:p>
            <a:pPr indent="0" lvl="0" marL="457200" rtl="0" algn="l">
              <a:spcBef>
                <a:spcPts val="0"/>
              </a:spcBef>
              <a:spcAft>
                <a:spcPts val="0"/>
              </a:spcAft>
              <a:buNone/>
            </a:pPr>
            <a:r>
              <a:t/>
            </a:r>
            <a:endParaRPr sz="1500">
              <a:solidFill>
                <a:srgbClr val="242424"/>
              </a:solidFill>
              <a:highlight>
                <a:srgbClr val="FFFFFF"/>
              </a:highlight>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b="1" lang="en" sz="1500">
                <a:solidFill>
                  <a:srgbClr val="242424"/>
                </a:solidFill>
                <a:highlight>
                  <a:srgbClr val="FFFFFF"/>
                </a:highlight>
                <a:latin typeface="Roboto"/>
                <a:ea typeface="Roboto"/>
                <a:cs typeface="Roboto"/>
                <a:sym typeface="Roboto"/>
              </a:rPr>
              <a:t>Speed and Efficiency:</a:t>
            </a:r>
            <a:r>
              <a:rPr lang="en" sz="1500">
                <a:solidFill>
                  <a:srgbClr val="242424"/>
                </a:solidFill>
                <a:highlight>
                  <a:srgbClr val="FFFFFF"/>
                </a:highlight>
                <a:latin typeface="Roboto"/>
                <a:ea typeface="Roboto"/>
                <a:cs typeface="Roboto"/>
                <a:sym typeface="Roboto"/>
              </a:rPr>
              <a:t> Unsloth.ai can accelerate the fine-tuning process up to 30 times compared to traditional methods. This is achieved without compromising accuracy, thanks to manual differentiation and optimized GPU kernels. For instance, tasks typically taking 23 hours on a Tesla T4 GPU can be completed in just over 2 hours using Unsloth​.</a:t>
            </a:r>
            <a:endParaRPr sz="1500">
              <a:solidFill>
                <a:srgbClr val="242424"/>
              </a:solidFill>
              <a:highlight>
                <a:srgbClr val="FFFFFF"/>
              </a:highlight>
              <a:latin typeface="Roboto"/>
              <a:ea typeface="Roboto"/>
              <a:cs typeface="Roboto"/>
              <a:sym typeface="Roboto"/>
            </a:endParaRPr>
          </a:p>
          <a:p>
            <a:pPr indent="0" lvl="0" marL="457200" rtl="0" algn="l">
              <a:spcBef>
                <a:spcPts val="0"/>
              </a:spcBef>
              <a:spcAft>
                <a:spcPts val="0"/>
              </a:spcAft>
              <a:buNone/>
            </a:pPr>
            <a:r>
              <a:t/>
            </a:r>
            <a:endParaRPr sz="1500">
              <a:solidFill>
                <a:srgbClr val="242424"/>
              </a:solidFill>
              <a:highlight>
                <a:srgbClr val="FFFFFF"/>
              </a:highlight>
              <a:latin typeface="Roboto"/>
              <a:ea typeface="Roboto"/>
              <a:cs typeface="Roboto"/>
              <a:sym typeface="Roboto"/>
            </a:endParaRPr>
          </a:p>
          <a:p>
            <a:pPr indent="-323850" lvl="0" marL="457200" rtl="0" algn="l">
              <a:spcBef>
                <a:spcPts val="0"/>
              </a:spcBef>
              <a:spcAft>
                <a:spcPts val="0"/>
              </a:spcAft>
              <a:buClr>
                <a:srgbClr val="242424"/>
              </a:buClr>
              <a:buSzPts val="1500"/>
              <a:buFont typeface="Georgia"/>
              <a:buChar char="●"/>
            </a:pPr>
            <a:r>
              <a:rPr b="1" lang="en" sz="1500">
                <a:solidFill>
                  <a:srgbClr val="242424"/>
                </a:solidFill>
                <a:highlight>
                  <a:srgbClr val="FFFFFF"/>
                </a:highlight>
                <a:latin typeface="Roboto"/>
                <a:ea typeface="Roboto"/>
                <a:cs typeface="Roboto"/>
                <a:sym typeface="Roboto"/>
              </a:rPr>
              <a:t>Memory Optimization:</a:t>
            </a:r>
            <a:r>
              <a:rPr lang="en" sz="1500">
                <a:solidFill>
                  <a:srgbClr val="242424"/>
                </a:solidFill>
                <a:highlight>
                  <a:srgbClr val="FFFFFF"/>
                </a:highlight>
                <a:latin typeface="Roboto"/>
                <a:ea typeface="Roboto"/>
                <a:cs typeface="Roboto"/>
                <a:sym typeface="Roboto"/>
              </a:rPr>
              <a:t> Unsloth offers significant memory optimization, enabling users to process larger datasets and utilize extended context windows. By reducing peak memory consumption by up to 74%, it facilitates the fine-tuning of substantial models even on systems with constrained hardware resources.</a:t>
            </a:r>
            <a:endParaRPr sz="1500">
              <a:solidFill>
                <a:srgbClr val="242424"/>
              </a:solidFill>
              <a:highlight>
                <a:srgbClr val="FFFFFF"/>
              </a:highlight>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p:txBody>
      </p:sp>
      <p:pic>
        <p:nvPicPr>
          <p:cNvPr id="131" name="Google Shape;131;p18"/>
          <p:cNvPicPr preferRelativeResize="0"/>
          <p:nvPr/>
        </p:nvPicPr>
        <p:blipFill>
          <a:blip r:embed="rId3">
            <a:alphaModFix/>
          </a:blip>
          <a:stretch>
            <a:fillRect/>
          </a:stretch>
        </p:blipFill>
        <p:spPr>
          <a:xfrm>
            <a:off x="7258851" y="410000"/>
            <a:ext cx="1627748" cy="607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9"/>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of choice Phi 3.5 Unsloth Variant </a:t>
            </a:r>
            <a:endParaRPr/>
          </a:p>
        </p:txBody>
      </p:sp>
      <p:sp>
        <p:nvSpPr>
          <p:cNvPr id="137" name="Google Shape;137;p19"/>
          <p:cNvSpPr txBox="1"/>
          <p:nvPr/>
        </p:nvSpPr>
        <p:spPr>
          <a:xfrm>
            <a:off x="257100" y="1120900"/>
            <a:ext cx="8629500" cy="41268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Font typeface="Roboto"/>
              <a:buChar char="●"/>
            </a:pPr>
            <a:r>
              <a:rPr lang="en" sz="1700">
                <a:solidFill>
                  <a:srgbClr val="242424"/>
                </a:solidFill>
                <a:highlight>
                  <a:srgbClr val="FFFFFF"/>
                </a:highlight>
                <a:latin typeface="Roboto"/>
                <a:ea typeface="Roboto"/>
                <a:cs typeface="Roboto"/>
                <a:sym typeface="Roboto"/>
              </a:rPr>
              <a:t>Unsloth.ai uses advanced mathematical derivations and handwritten GPU kernels using OpenAI’s Triton language​​. </a:t>
            </a:r>
            <a:r>
              <a:rPr lang="en" sz="1700">
                <a:solidFill>
                  <a:srgbClr val="242424"/>
                </a:solidFill>
                <a:highlight>
                  <a:srgbClr val="FFFFFF"/>
                </a:highlight>
                <a:latin typeface="Roboto"/>
                <a:ea typeface="Roboto"/>
                <a:cs typeface="Roboto"/>
                <a:sym typeface="Roboto"/>
              </a:rPr>
              <a:t>Pytorch</a:t>
            </a:r>
            <a:r>
              <a:rPr lang="en" sz="1700">
                <a:solidFill>
                  <a:srgbClr val="242424"/>
                </a:solidFill>
                <a:highlight>
                  <a:srgbClr val="FFFFFF"/>
                </a:highlight>
                <a:latin typeface="Roboto"/>
                <a:ea typeface="Roboto"/>
                <a:cs typeface="Roboto"/>
                <a:sym typeface="Roboto"/>
              </a:rPr>
              <a:t> autograd is reasonably efficient for most tasks, but if you want extreme performance, you have to derive the matrix differentials yourself. </a:t>
            </a:r>
            <a:r>
              <a:rPr lang="en" sz="1700">
                <a:solidFill>
                  <a:srgbClr val="242424"/>
                </a:solidFill>
                <a:highlight>
                  <a:srgbClr val="FFFFFF"/>
                </a:highlight>
                <a:latin typeface="Roboto"/>
                <a:ea typeface="Roboto"/>
                <a:cs typeface="Roboto"/>
                <a:sym typeface="Roboto"/>
              </a:rPr>
              <a:t>Sloth</a:t>
            </a:r>
            <a:r>
              <a:rPr lang="en" sz="1700">
                <a:solidFill>
                  <a:srgbClr val="242424"/>
                </a:solidFill>
                <a:highlight>
                  <a:srgbClr val="FFFFFF"/>
                </a:highlight>
                <a:latin typeface="Roboto"/>
                <a:ea typeface="Roboto"/>
                <a:cs typeface="Roboto"/>
                <a:sym typeface="Roboto"/>
              </a:rPr>
              <a:t> optimizes it for us by fine-tuning by manually deriving matrix differentials and performing chained matrix multiplications. This approach ensures that operations are carried out with minimal computational overhead.</a:t>
            </a:r>
            <a:endParaRPr sz="20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p:txBody>
      </p:sp>
      <p:pic>
        <p:nvPicPr>
          <p:cNvPr id="138" name="Google Shape;138;p19"/>
          <p:cNvPicPr preferRelativeResize="0"/>
          <p:nvPr/>
        </p:nvPicPr>
        <p:blipFill>
          <a:blip r:embed="rId3">
            <a:alphaModFix/>
          </a:blip>
          <a:stretch>
            <a:fillRect/>
          </a:stretch>
        </p:blipFill>
        <p:spPr>
          <a:xfrm>
            <a:off x="7258851" y="410000"/>
            <a:ext cx="1627748" cy="607800"/>
          </a:xfrm>
          <a:prstGeom prst="rect">
            <a:avLst/>
          </a:prstGeom>
          <a:noFill/>
          <a:ln>
            <a:noFill/>
          </a:ln>
        </p:spPr>
      </p:pic>
      <p:pic>
        <p:nvPicPr>
          <p:cNvPr id="139" name="Google Shape;139;p19"/>
          <p:cNvPicPr preferRelativeResize="0"/>
          <p:nvPr/>
        </p:nvPicPr>
        <p:blipFill>
          <a:blip r:embed="rId4">
            <a:alphaModFix/>
          </a:blip>
          <a:stretch>
            <a:fillRect/>
          </a:stretch>
        </p:blipFill>
        <p:spPr>
          <a:xfrm>
            <a:off x="3188975" y="2831063"/>
            <a:ext cx="2766050" cy="18136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0"/>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LoRA Learns Less and Forgets Less</a:t>
            </a:r>
            <a:endParaRPr/>
          </a:p>
        </p:txBody>
      </p:sp>
      <p:sp>
        <p:nvSpPr>
          <p:cNvPr id="145" name="Google Shape;145;p20"/>
          <p:cNvSpPr txBox="1"/>
          <p:nvPr/>
        </p:nvSpPr>
        <p:spPr>
          <a:xfrm>
            <a:off x="257100" y="1120900"/>
            <a:ext cx="8629500" cy="4126800"/>
          </a:xfrm>
          <a:prstGeom prst="rect">
            <a:avLst/>
          </a:prstGeom>
          <a:noFill/>
          <a:ln>
            <a:noFill/>
          </a:ln>
        </p:spPr>
        <p:txBody>
          <a:bodyPr anchorCtr="0" anchor="t" bIns="91425" lIns="91425" spcFirstLastPara="1" rIns="91425" wrap="square" tIns="91425">
            <a:noAutofit/>
          </a:bodyPr>
          <a:lstStyle/>
          <a:p>
            <a:pPr indent="-387350" lvl="0" marL="457200" rtl="0" algn="l">
              <a:spcBef>
                <a:spcPts val="0"/>
              </a:spcBef>
              <a:spcAft>
                <a:spcPts val="0"/>
              </a:spcAft>
              <a:buClr>
                <a:schemeClr val="dk2"/>
              </a:buClr>
              <a:buSzPts val="2500"/>
              <a:buFont typeface="Roboto"/>
              <a:buChar char="●"/>
            </a:pPr>
            <a:r>
              <a:rPr lang="en" sz="2200">
                <a:solidFill>
                  <a:srgbClr val="242424"/>
                </a:solidFill>
                <a:highlight>
                  <a:srgbClr val="FFFFFF"/>
                </a:highlight>
                <a:latin typeface="Roboto"/>
                <a:ea typeface="Roboto"/>
                <a:cs typeface="Roboto"/>
                <a:sym typeface="Roboto"/>
              </a:rPr>
              <a:t>A key advantage of LoRA is its ability to preserve the pre-trained LLM's general knowledge while adapting it to the chatbot's specific domain. </a:t>
            </a:r>
            <a:endParaRPr sz="2200">
              <a:solidFill>
                <a:srgbClr val="242424"/>
              </a:solidFill>
              <a:highlight>
                <a:srgbClr val="FFFFFF"/>
              </a:highlight>
              <a:latin typeface="Roboto"/>
              <a:ea typeface="Roboto"/>
              <a:cs typeface="Roboto"/>
              <a:sym typeface="Roboto"/>
            </a:endParaRPr>
          </a:p>
          <a:p>
            <a:pPr indent="-387350" lvl="0" marL="457200" rtl="0" algn="l">
              <a:spcBef>
                <a:spcPts val="0"/>
              </a:spcBef>
              <a:spcAft>
                <a:spcPts val="0"/>
              </a:spcAft>
              <a:buClr>
                <a:schemeClr val="dk2"/>
              </a:buClr>
              <a:buSzPts val="2500"/>
              <a:buFont typeface="Roboto"/>
              <a:buChar char="●"/>
            </a:pPr>
            <a:r>
              <a:rPr lang="en" sz="2200">
                <a:solidFill>
                  <a:srgbClr val="242424"/>
                </a:solidFill>
                <a:highlight>
                  <a:srgbClr val="FFFFFF"/>
                </a:highlight>
                <a:latin typeface="Roboto"/>
                <a:ea typeface="Roboto"/>
                <a:cs typeface="Roboto"/>
                <a:sym typeface="Roboto"/>
              </a:rPr>
              <a:t>This mitigates catastrophic forgetting, ensuring that the chatbot maintains its ability to handle a wide range of user queries beyond its specialized tasks. </a:t>
            </a:r>
            <a:endParaRPr sz="2200">
              <a:solidFill>
                <a:srgbClr val="242424"/>
              </a:solidFill>
              <a:highlight>
                <a:srgbClr val="FFFFFF"/>
              </a:highlight>
              <a:latin typeface="Roboto"/>
              <a:ea typeface="Roboto"/>
              <a:cs typeface="Roboto"/>
              <a:sym typeface="Roboto"/>
            </a:endParaRPr>
          </a:p>
          <a:p>
            <a:pPr indent="-368300" lvl="0" marL="457200" rtl="0" algn="l">
              <a:spcBef>
                <a:spcPts val="0"/>
              </a:spcBef>
              <a:spcAft>
                <a:spcPts val="0"/>
              </a:spcAft>
              <a:buClr>
                <a:srgbClr val="242424"/>
              </a:buClr>
              <a:buSzPts val="2200"/>
              <a:buFont typeface="Roboto"/>
              <a:buChar char="●"/>
            </a:pPr>
            <a:r>
              <a:rPr lang="en" sz="2200">
                <a:solidFill>
                  <a:srgbClr val="242424"/>
                </a:solidFill>
                <a:highlight>
                  <a:srgbClr val="FFFFFF"/>
                </a:highlight>
                <a:latin typeface="Roboto"/>
                <a:ea typeface="Roboto"/>
                <a:cs typeface="Roboto"/>
                <a:sym typeface="Roboto"/>
              </a:rPr>
              <a:t>This allows for faster experimentation cycles, as the reduced training time enabled rapid testing of different fine-tuning parameters and datasets.</a:t>
            </a:r>
            <a:endParaRPr sz="2200">
              <a:solidFill>
                <a:srgbClr val="242424"/>
              </a:solidFill>
              <a:highlight>
                <a:srgbClr val="FFFFFF"/>
              </a:highlight>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p:txBody>
      </p:sp>
      <p:pic>
        <p:nvPicPr>
          <p:cNvPr id="146" name="Google Shape;146;p20"/>
          <p:cNvPicPr preferRelativeResize="0"/>
          <p:nvPr/>
        </p:nvPicPr>
        <p:blipFill>
          <a:blip r:embed="rId3">
            <a:alphaModFix/>
          </a:blip>
          <a:stretch>
            <a:fillRect/>
          </a:stretch>
        </p:blipFill>
        <p:spPr>
          <a:xfrm>
            <a:off x="7258851" y="410000"/>
            <a:ext cx="1627748" cy="607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RAG</a:t>
            </a:r>
            <a:endParaRPr/>
          </a:p>
        </p:txBody>
      </p:sp>
      <p:sp>
        <p:nvSpPr>
          <p:cNvPr id="152" name="Google Shape;152;p21"/>
          <p:cNvSpPr txBox="1"/>
          <p:nvPr/>
        </p:nvSpPr>
        <p:spPr>
          <a:xfrm>
            <a:off x="257100" y="1120900"/>
            <a:ext cx="8629500" cy="4126800"/>
          </a:xfrm>
          <a:prstGeom prst="rect">
            <a:avLst/>
          </a:prstGeom>
          <a:noFill/>
          <a:ln>
            <a:noFill/>
          </a:ln>
        </p:spPr>
        <p:txBody>
          <a:bodyPr anchorCtr="0" anchor="t" bIns="91425" lIns="91425" spcFirstLastPara="1" rIns="91425" wrap="square" tIns="91425">
            <a:noAutofit/>
          </a:bodyPr>
          <a:lstStyle/>
          <a:p>
            <a:pPr indent="-387350" lvl="0" marL="457200" rtl="0" algn="l">
              <a:spcBef>
                <a:spcPts val="0"/>
              </a:spcBef>
              <a:spcAft>
                <a:spcPts val="0"/>
              </a:spcAft>
              <a:buClr>
                <a:schemeClr val="dk2"/>
              </a:buClr>
              <a:buSzPts val="2500"/>
              <a:buFont typeface="Roboto"/>
              <a:buChar char="●"/>
            </a:pPr>
            <a:r>
              <a:rPr lang="en" sz="2200">
                <a:solidFill>
                  <a:srgbClr val="242424"/>
                </a:solidFill>
                <a:highlight>
                  <a:srgbClr val="FFFFFF"/>
                </a:highlight>
                <a:latin typeface="Roboto"/>
                <a:ea typeface="Roboto"/>
                <a:cs typeface="Roboto"/>
                <a:sym typeface="Roboto"/>
              </a:rPr>
              <a:t>Supplements our </a:t>
            </a:r>
            <a:r>
              <a:rPr lang="en" sz="2200">
                <a:solidFill>
                  <a:srgbClr val="242424"/>
                </a:solidFill>
                <a:highlight>
                  <a:srgbClr val="FFFFFF"/>
                </a:highlight>
                <a:latin typeface="Roboto"/>
                <a:ea typeface="Roboto"/>
                <a:cs typeface="Roboto"/>
                <a:sym typeface="Roboto"/>
              </a:rPr>
              <a:t>fine tuning</a:t>
            </a:r>
            <a:r>
              <a:rPr lang="en" sz="2200">
                <a:solidFill>
                  <a:srgbClr val="242424"/>
                </a:solidFill>
                <a:highlight>
                  <a:srgbClr val="FFFFFF"/>
                </a:highlight>
                <a:latin typeface="Roboto"/>
                <a:ea typeface="Roboto"/>
                <a:cs typeface="Roboto"/>
                <a:sym typeface="Roboto"/>
              </a:rPr>
              <a:t> of the model.</a:t>
            </a:r>
            <a:r>
              <a:rPr lang="en" sz="2200">
                <a:solidFill>
                  <a:srgbClr val="242424"/>
                </a:solidFill>
                <a:highlight>
                  <a:srgbClr val="FFFFFF"/>
                </a:highlight>
                <a:latin typeface="Roboto"/>
                <a:ea typeface="Roboto"/>
                <a:cs typeface="Roboto"/>
                <a:sym typeface="Roboto"/>
              </a:rPr>
              <a:t> </a:t>
            </a:r>
            <a:endParaRPr sz="2200">
              <a:solidFill>
                <a:srgbClr val="242424"/>
              </a:solidFill>
              <a:highlight>
                <a:srgbClr val="FFFFFF"/>
              </a:highlight>
              <a:latin typeface="Roboto"/>
              <a:ea typeface="Roboto"/>
              <a:cs typeface="Roboto"/>
              <a:sym typeface="Roboto"/>
            </a:endParaRPr>
          </a:p>
          <a:p>
            <a:pPr indent="-387350" lvl="0" marL="457200" rtl="0" algn="l">
              <a:spcBef>
                <a:spcPts val="0"/>
              </a:spcBef>
              <a:spcAft>
                <a:spcPts val="0"/>
              </a:spcAft>
              <a:buClr>
                <a:schemeClr val="dk2"/>
              </a:buClr>
              <a:buSzPts val="2500"/>
              <a:buFont typeface="Roboto"/>
              <a:buChar char="●"/>
            </a:pPr>
            <a:r>
              <a:rPr lang="en" sz="2200">
                <a:solidFill>
                  <a:srgbClr val="242424"/>
                </a:solidFill>
                <a:highlight>
                  <a:srgbClr val="FFFFFF"/>
                </a:highlight>
                <a:latin typeface="Roboto"/>
                <a:ea typeface="Roboto"/>
                <a:cs typeface="Roboto"/>
                <a:sym typeface="Roboto"/>
              </a:rPr>
              <a:t>RAG provides transparency by allowing users to trace the source of the chatbot's information, increasing accountability and confidence in its responses.</a:t>
            </a:r>
            <a:endParaRPr sz="2200">
              <a:solidFill>
                <a:srgbClr val="242424"/>
              </a:solidFill>
              <a:highlight>
                <a:srgbClr val="FFFFFF"/>
              </a:highlight>
              <a:latin typeface="Roboto"/>
              <a:ea typeface="Roboto"/>
              <a:cs typeface="Roboto"/>
              <a:sym typeface="Roboto"/>
            </a:endParaRPr>
          </a:p>
          <a:p>
            <a:pPr indent="-368300" lvl="0" marL="457200" rtl="0" algn="l">
              <a:spcBef>
                <a:spcPts val="0"/>
              </a:spcBef>
              <a:spcAft>
                <a:spcPts val="0"/>
              </a:spcAft>
              <a:buClr>
                <a:srgbClr val="242424"/>
              </a:buClr>
              <a:buSzPts val="2200"/>
              <a:buFont typeface="Roboto"/>
              <a:buChar char="●"/>
            </a:pPr>
            <a:r>
              <a:rPr lang="en" sz="2200">
                <a:solidFill>
                  <a:srgbClr val="242424"/>
                </a:solidFill>
                <a:highlight>
                  <a:srgbClr val="FFFFFF"/>
                </a:highlight>
                <a:latin typeface="Roboto"/>
                <a:ea typeface="Roboto"/>
                <a:cs typeface="Roboto"/>
                <a:sym typeface="Roboto"/>
              </a:rPr>
              <a:t>RAG allows for the processing of very large datasets, that would be impossible to finetune into a model. This allows for a much larger context window in a way.</a:t>
            </a:r>
            <a:endParaRPr sz="2200">
              <a:solidFill>
                <a:srgbClr val="242424"/>
              </a:solidFill>
              <a:highlight>
                <a:srgbClr val="FFFFFF"/>
              </a:highlight>
              <a:latin typeface="Roboto"/>
              <a:ea typeface="Roboto"/>
              <a:cs typeface="Roboto"/>
              <a:sym typeface="Roboto"/>
            </a:endParaRPr>
          </a:p>
          <a:p>
            <a:pPr indent="-368300" lvl="0" marL="457200" rtl="0" algn="l">
              <a:spcBef>
                <a:spcPts val="0"/>
              </a:spcBef>
              <a:spcAft>
                <a:spcPts val="0"/>
              </a:spcAft>
              <a:buClr>
                <a:srgbClr val="242424"/>
              </a:buClr>
              <a:buSzPts val="2200"/>
              <a:buFont typeface="Roboto"/>
              <a:buChar char="●"/>
            </a:pPr>
            <a:r>
              <a:rPr lang="en" sz="2200">
                <a:solidFill>
                  <a:srgbClr val="242424"/>
                </a:solidFill>
                <a:highlight>
                  <a:srgbClr val="FFFFFF"/>
                </a:highlight>
                <a:latin typeface="Roboto"/>
                <a:ea typeface="Roboto"/>
                <a:cs typeface="Roboto"/>
                <a:sym typeface="Roboto"/>
              </a:rPr>
              <a:t>RAG minimizes the need to retrain the base LLM with new data, saving time and computational resources, especially when dealing with frequently updated information.</a:t>
            </a:r>
            <a:endParaRPr sz="2200">
              <a:solidFill>
                <a:srgbClr val="242424"/>
              </a:solidFill>
              <a:highlight>
                <a:srgbClr val="FFFFFF"/>
              </a:highlight>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p:txBody>
      </p:sp>
      <p:pic>
        <p:nvPicPr>
          <p:cNvPr id="153" name="Google Shape;153;p21"/>
          <p:cNvPicPr preferRelativeResize="0"/>
          <p:nvPr/>
        </p:nvPicPr>
        <p:blipFill>
          <a:blip r:embed="rId3">
            <a:alphaModFix/>
          </a:blip>
          <a:stretch>
            <a:fillRect/>
          </a:stretch>
        </p:blipFill>
        <p:spPr>
          <a:xfrm>
            <a:off x="7258851" y="410000"/>
            <a:ext cx="1627748" cy="607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2"/>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Langchain Pipeline Training</a:t>
            </a:r>
            <a:endParaRPr/>
          </a:p>
        </p:txBody>
      </p:sp>
      <p:sp>
        <p:nvSpPr>
          <p:cNvPr id="159" name="Google Shape;159;p22"/>
          <p:cNvSpPr txBox="1"/>
          <p:nvPr/>
        </p:nvSpPr>
        <p:spPr>
          <a:xfrm>
            <a:off x="257100" y="1120900"/>
            <a:ext cx="8629500" cy="381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pic>
        <p:nvPicPr>
          <p:cNvPr id="160" name="Google Shape;160;p22"/>
          <p:cNvPicPr preferRelativeResize="0"/>
          <p:nvPr/>
        </p:nvPicPr>
        <p:blipFill>
          <a:blip r:embed="rId3">
            <a:alphaModFix/>
          </a:blip>
          <a:stretch>
            <a:fillRect/>
          </a:stretch>
        </p:blipFill>
        <p:spPr>
          <a:xfrm>
            <a:off x="180225" y="1236750"/>
            <a:ext cx="8331088" cy="3703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Langchain Pipeline Inference</a:t>
            </a:r>
            <a:endParaRPr/>
          </a:p>
        </p:txBody>
      </p:sp>
      <p:sp>
        <p:nvSpPr>
          <p:cNvPr id="166" name="Google Shape;166;p23"/>
          <p:cNvSpPr txBox="1"/>
          <p:nvPr/>
        </p:nvSpPr>
        <p:spPr>
          <a:xfrm>
            <a:off x="257100" y="1120900"/>
            <a:ext cx="8629500" cy="381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pic>
        <p:nvPicPr>
          <p:cNvPr id="167" name="Google Shape;167;p23"/>
          <p:cNvPicPr preferRelativeResize="0"/>
          <p:nvPr/>
        </p:nvPicPr>
        <p:blipFill>
          <a:blip r:embed="rId3">
            <a:alphaModFix/>
          </a:blip>
          <a:stretch>
            <a:fillRect/>
          </a:stretch>
        </p:blipFill>
        <p:spPr>
          <a:xfrm>
            <a:off x="1142701" y="967700"/>
            <a:ext cx="6858304" cy="4125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Guardrail integration(to prevent hallucination)</a:t>
            </a:r>
            <a:endParaRPr/>
          </a:p>
        </p:txBody>
      </p:sp>
      <p:sp>
        <p:nvSpPr>
          <p:cNvPr id="173" name="Google Shape;173;p24"/>
          <p:cNvSpPr txBox="1"/>
          <p:nvPr/>
        </p:nvSpPr>
        <p:spPr>
          <a:xfrm>
            <a:off x="257100" y="1120900"/>
            <a:ext cx="8629500" cy="381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To maintain within scope, we implemented a guardrail:</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b="1" lang="en" sz="1800">
                <a:latin typeface="Roboto"/>
                <a:ea typeface="Roboto"/>
                <a:cs typeface="Roboto"/>
                <a:sym typeface="Roboto"/>
              </a:rPr>
              <a:t>Comprehensive Lexicon</a:t>
            </a:r>
            <a:r>
              <a:rPr lang="en" sz="1800">
                <a:latin typeface="Roboto"/>
                <a:ea typeface="Roboto"/>
                <a:cs typeface="Roboto"/>
                <a:sym typeface="Roboto"/>
              </a:rPr>
              <a:t>: The guardrail contains 100+ Singapore-specific historical terms (including historical figures like "Lee Kuan Yew," events like "Japanese Occupation," and landmarks like "Fort Canning") to identify relevant queries.</a:t>
            </a:r>
            <a:endParaRPr sz="1800">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b="1" lang="en" sz="1800">
                <a:latin typeface="Roboto"/>
                <a:ea typeface="Roboto"/>
                <a:cs typeface="Roboto"/>
                <a:sym typeface="Roboto"/>
              </a:rPr>
              <a:t>Non-History Term Detection</a:t>
            </a:r>
            <a:r>
              <a:rPr lang="en" sz="1800">
                <a:latin typeface="Roboto"/>
                <a:ea typeface="Roboto"/>
                <a:cs typeface="Roboto"/>
                <a:sym typeface="Roboto"/>
              </a:rPr>
              <a:t>: The system maintains a separate lexicon of 300+ non-historical terms across categories like food, sports, and technology to identify off-topic questions, preventing the model from generating responses outside its knowledge domain.</a:t>
            </a:r>
            <a:endParaRPr sz="1800">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b="1" lang="en" sz="1800">
                <a:latin typeface="Roboto"/>
                <a:ea typeface="Roboto"/>
                <a:cs typeface="Roboto"/>
                <a:sym typeface="Roboto"/>
              </a:rPr>
              <a:t>Weighted Decision Logic</a:t>
            </a:r>
            <a:r>
              <a:rPr lang="en" sz="1800">
                <a:latin typeface="Roboto"/>
                <a:ea typeface="Roboto"/>
                <a:cs typeface="Roboto"/>
                <a:sym typeface="Roboto"/>
              </a:rPr>
              <a:t>: When processing user queries, the guardrail performs comparative analysis between history-related and non-history terms,choosing based on term prevalence to determine if a question falls within scope.</a:t>
            </a:r>
            <a:endParaRPr sz="1800">
              <a:solidFill>
                <a:schemeClr val="dk2"/>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Guardrail integration Example</a:t>
            </a:r>
            <a:endParaRPr/>
          </a:p>
        </p:txBody>
      </p:sp>
      <p:pic>
        <p:nvPicPr>
          <p:cNvPr id="179" name="Google Shape;179;p25"/>
          <p:cNvPicPr preferRelativeResize="0"/>
          <p:nvPr/>
        </p:nvPicPr>
        <p:blipFill rotWithShape="1">
          <a:blip r:embed="rId3">
            <a:alphaModFix/>
          </a:blip>
          <a:srcRect b="22130" l="0" r="0" t="0"/>
          <a:stretch/>
        </p:blipFill>
        <p:spPr>
          <a:xfrm>
            <a:off x="152400" y="1462675"/>
            <a:ext cx="4172340" cy="2433425"/>
          </a:xfrm>
          <a:prstGeom prst="rect">
            <a:avLst/>
          </a:prstGeom>
          <a:noFill/>
          <a:ln>
            <a:noFill/>
          </a:ln>
        </p:spPr>
      </p:pic>
      <p:sp>
        <p:nvSpPr>
          <p:cNvPr id="180" name="Google Shape;180;p25"/>
          <p:cNvSpPr txBox="1"/>
          <p:nvPr>
            <p:ph type="title"/>
          </p:nvPr>
        </p:nvSpPr>
        <p:spPr>
          <a:xfrm>
            <a:off x="1660200" y="4373025"/>
            <a:ext cx="782700" cy="43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Before</a:t>
            </a:r>
            <a:endParaRPr sz="1600"/>
          </a:p>
        </p:txBody>
      </p:sp>
      <p:sp>
        <p:nvSpPr>
          <p:cNvPr id="181" name="Google Shape;181;p25"/>
          <p:cNvSpPr txBox="1"/>
          <p:nvPr>
            <p:ph type="title"/>
          </p:nvPr>
        </p:nvSpPr>
        <p:spPr>
          <a:xfrm>
            <a:off x="6152425" y="4373025"/>
            <a:ext cx="782700" cy="43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After</a:t>
            </a:r>
            <a:endParaRPr sz="1600"/>
          </a:p>
        </p:txBody>
      </p:sp>
      <p:pic>
        <p:nvPicPr>
          <p:cNvPr id="182" name="Google Shape;182;p25"/>
          <p:cNvPicPr preferRelativeResize="0"/>
          <p:nvPr/>
        </p:nvPicPr>
        <p:blipFill rotWithShape="1">
          <a:blip r:embed="rId4">
            <a:alphaModFix/>
          </a:blip>
          <a:srcRect b="0" l="0" r="0" t="0"/>
          <a:stretch/>
        </p:blipFill>
        <p:spPr>
          <a:xfrm>
            <a:off x="4324750" y="2406611"/>
            <a:ext cx="4819126" cy="7235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ChatGPT Usage</a:t>
            </a:r>
            <a:endParaRPr/>
          </a:p>
        </p:txBody>
      </p:sp>
      <p:sp>
        <p:nvSpPr>
          <p:cNvPr id="188" name="Google Shape;188;p26"/>
          <p:cNvSpPr txBox="1"/>
          <p:nvPr/>
        </p:nvSpPr>
        <p:spPr>
          <a:xfrm>
            <a:off x="257250" y="1017800"/>
            <a:ext cx="8629500" cy="38193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800">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b="1" lang="en" sz="1800">
                <a:latin typeface="Roboto"/>
                <a:ea typeface="Roboto"/>
                <a:cs typeface="Roboto"/>
                <a:sym typeface="Roboto"/>
              </a:rPr>
              <a:t>Code Structure: </a:t>
            </a:r>
            <a:r>
              <a:rPr lang="en" sz="1800">
                <a:latin typeface="Roboto"/>
                <a:ea typeface="Roboto"/>
                <a:cs typeface="Roboto"/>
                <a:sym typeface="Roboto"/>
              </a:rPr>
              <a:t>Assisted</a:t>
            </a:r>
            <a:r>
              <a:rPr lang="en" sz="1800">
                <a:latin typeface="Roboto"/>
                <a:ea typeface="Roboto"/>
                <a:cs typeface="Roboto"/>
                <a:sym typeface="Roboto"/>
              </a:rPr>
              <a:t> in making the structure of the training code when evaluating models</a:t>
            </a:r>
            <a:endParaRPr sz="1800">
              <a:latin typeface="Roboto"/>
              <a:ea typeface="Roboto"/>
              <a:cs typeface="Roboto"/>
              <a:sym typeface="Roboto"/>
            </a:endParaRPr>
          </a:p>
          <a:p>
            <a:pPr indent="0" lvl="0" marL="457200" rtl="0" algn="l">
              <a:spcBef>
                <a:spcPts val="0"/>
              </a:spcBef>
              <a:spcAft>
                <a:spcPts val="0"/>
              </a:spcAft>
              <a:buNone/>
            </a:pPr>
            <a:r>
              <a:rPr b="1" lang="en" sz="1800">
                <a:latin typeface="Roboto"/>
                <a:ea typeface="Roboto"/>
                <a:cs typeface="Roboto"/>
                <a:sym typeface="Roboto"/>
              </a:rPr>
              <a:t> </a:t>
            </a:r>
            <a:endParaRPr sz="1800">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b="1" lang="en" sz="1800">
                <a:latin typeface="Roboto"/>
                <a:ea typeface="Roboto"/>
                <a:cs typeface="Roboto"/>
                <a:sym typeface="Roboto"/>
              </a:rPr>
              <a:t>Guardrail Expansion</a:t>
            </a:r>
            <a:r>
              <a:rPr lang="en" sz="1800">
                <a:latin typeface="Roboto"/>
                <a:ea typeface="Roboto"/>
                <a:cs typeface="Roboto"/>
                <a:sym typeface="Roboto"/>
              </a:rPr>
              <a:t>: Expanded the list of whitelisted and blacklisted words with the help of ChatGPT</a:t>
            </a:r>
            <a:endParaRPr sz="1800">
              <a:solidFill>
                <a:schemeClr val="dk2"/>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7"/>
          <p:cNvSpPr txBox="1"/>
          <p:nvPr>
            <p:ph type="title"/>
          </p:nvPr>
        </p:nvSpPr>
        <p:spPr>
          <a:xfrm>
            <a:off x="2999700" y="1862250"/>
            <a:ext cx="3144600" cy="141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6900"/>
              <a:t>DEMO</a:t>
            </a:r>
            <a:endParaRPr sz="69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8"/>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pic>
        <p:nvPicPr>
          <p:cNvPr descr="HD wallpaper: Q&amp;A Message Meaning Questions Answers And Assistance ..." id="199" name="Google Shape;199;p28"/>
          <p:cNvPicPr preferRelativeResize="0"/>
          <p:nvPr/>
        </p:nvPicPr>
        <p:blipFill>
          <a:blip r:embed="rId3">
            <a:alphaModFix/>
          </a:blip>
          <a:stretch>
            <a:fillRect/>
          </a:stretch>
        </p:blipFill>
        <p:spPr>
          <a:xfrm>
            <a:off x="2057750" y="1017801"/>
            <a:ext cx="5028501" cy="35089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3" name="Shape 203"/>
        <p:cNvGrpSpPr/>
        <p:nvPr/>
      </p:nvGrpSpPr>
      <p:grpSpPr>
        <a:xfrm>
          <a:off x="0" y="0"/>
          <a:ext cx="0" cy="0"/>
          <a:chOff x="0" y="0"/>
          <a:chExt cx="0" cy="0"/>
        </a:xfrm>
      </p:grpSpPr>
      <p:sp>
        <p:nvSpPr>
          <p:cNvPr id="204" name="Google Shape;204;p29"/>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HuggingFace hosted Front End</a:t>
            </a:r>
            <a:endParaRPr/>
          </a:p>
        </p:txBody>
      </p:sp>
      <p:sp>
        <p:nvSpPr>
          <p:cNvPr id="205" name="Google Shape;205;p29"/>
          <p:cNvSpPr txBox="1"/>
          <p:nvPr/>
        </p:nvSpPr>
        <p:spPr>
          <a:xfrm>
            <a:off x="257100" y="1120900"/>
            <a:ext cx="8629500" cy="3819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Roboto"/>
              <a:buChar char="●"/>
            </a:pPr>
            <a:r>
              <a:rPr b="1" lang="en" sz="1800">
                <a:solidFill>
                  <a:schemeClr val="dk2"/>
                </a:solidFill>
                <a:latin typeface="Roboto"/>
                <a:ea typeface="Roboto"/>
                <a:cs typeface="Roboto"/>
                <a:sym typeface="Roboto"/>
              </a:rPr>
              <a:t>Deployment</a:t>
            </a:r>
            <a:r>
              <a:rPr lang="en" sz="1800">
                <a:solidFill>
                  <a:schemeClr val="dk2"/>
                </a:solidFill>
                <a:latin typeface="Roboto"/>
                <a:ea typeface="Roboto"/>
                <a:cs typeface="Roboto"/>
                <a:sym typeface="Roboto"/>
              </a:rPr>
              <a:t>: Hosted on Hugging Face Spaces for accessibility and scalability</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b="1" lang="en" sz="1800">
                <a:solidFill>
                  <a:schemeClr val="dk2"/>
                </a:solidFill>
                <a:latin typeface="Roboto"/>
                <a:ea typeface="Roboto"/>
                <a:cs typeface="Roboto"/>
                <a:sym typeface="Roboto"/>
              </a:rPr>
              <a:t>Model Integration</a:t>
            </a:r>
            <a:r>
              <a:rPr lang="en" sz="1800">
                <a:solidFill>
                  <a:schemeClr val="dk2"/>
                </a:solidFill>
                <a:latin typeface="Roboto"/>
                <a:ea typeface="Roboto"/>
                <a:cs typeface="Roboto"/>
                <a:sym typeface="Roboto"/>
              </a:rPr>
              <a:t>: Connects to Phi-3.5-mini-instruct via the Hugging Face API</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b="1"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b="1" lang="en" sz="1800">
                <a:solidFill>
                  <a:schemeClr val="dk2"/>
                </a:solidFill>
                <a:latin typeface="Roboto"/>
                <a:ea typeface="Roboto"/>
                <a:cs typeface="Roboto"/>
                <a:sym typeface="Roboto"/>
              </a:rPr>
              <a:t>Intuitive Chat Interface</a:t>
            </a:r>
            <a:r>
              <a:rPr lang="en" sz="1800">
                <a:solidFill>
                  <a:schemeClr val="dk2"/>
                </a:solidFill>
                <a:latin typeface="Roboto"/>
                <a:ea typeface="Roboto"/>
                <a:cs typeface="Roboto"/>
                <a:sym typeface="Roboto"/>
              </a:rPr>
              <a:t>: Clearly distinguished user/bot messages with timestamps</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b="1"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b="1" lang="en" sz="1800">
                <a:solidFill>
                  <a:schemeClr val="dk2"/>
                </a:solidFill>
                <a:latin typeface="Roboto"/>
                <a:ea typeface="Roboto"/>
                <a:cs typeface="Roboto"/>
                <a:sym typeface="Roboto"/>
              </a:rPr>
              <a:t>Contextual Guidance</a:t>
            </a:r>
            <a:r>
              <a:rPr lang="en" sz="1800">
                <a:solidFill>
                  <a:schemeClr val="dk2"/>
                </a:solidFill>
                <a:latin typeface="Roboto"/>
                <a:ea typeface="Roboto"/>
                <a:cs typeface="Roboto"/>
                <a:sym typeface="Roboto"/>
              </a:rPr>
              <a:t>: Sidebar with suggested topics and conversation starters</a:t>
            </a:r>
            <a:endParaRPr sz="1800">
              <a:solidFill>
                <a:schemeClr val="dk2"/>
              </a:solidFill>
              <a:latin typeface="Roboto"/>
              <a:ea typeface="Roboto"/>
              <a:cs typeface="Roboto"/>
              <a:sym typeface="Roboto"/>
            </a:endParaRPr>
          </a:p>
          <a:p>
            <a:pPr indent="0" lvl="0" marL="457200" rtl="0" algn="l">
              <a:spcBef>
                <a:spcPts val="0"/>
              </a:spcBef>
              <a:spcAft>
                <a:spcPts val="0"/>
              </a:spcAft>
              <a:buNone/>
            </a:pPr>
            <a:r>
              <a:t/>
            </a:r>
            <a:endParaRPr b="1"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b="1" lang="en" sz="1800">
                <a:solidFill>
                  <a:schemeClr val="dk2"/>
                </a:solidFill>
                <a:latin typeface="Roboto"/>
                <a:ea typeface="Roboto"/>
                <a:cs typeface="Roboto"/>
                <a:sym typeface="Roboto"/>
              </a:rPr>
              <a:t>Responsive Feedback</a:t>
            </a:r>
            <a:r>
              <a:rPr lang="en" sz="1800">
                <a:solidFill>
                  <a:schemeClr val="dk2"/>
                </a:solidFill>
                <a:latin typeface="Roboto"/>
                <a:ea typeface="Roboto"/>
                <a:cs typeface="Roboto"/>
                <a:sym typeface="Roboto"/>
              </a:rPr>
              <a:t>: Visual "Thinking..." indicators during information retrieval</a:t>
            </a:r>
            <a:endParaRPr sz="1800">
              <a:solidFill>
                <a:schemeClr val="dk2"/>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9" name="Shape 209"/>
        <p:cNvGrpSpPr/>
        <p:nvPr/>
      </p:nvGrpSpPr>
      <p:grpSpPr>
        <a:xfrm>
          <a:off x="0" y="0"/>
          <a:ext cx="0" cy="0"/>
          <a:chOff x="0" y="0"/>
          <a:chExt cx="0" cy="0"/>
        </a:xfrm>
      </p:grpSpPr>
      <p:sp>
        <p:nvSpPr>
          <p:cNvPr id="210" name="Google Shape;210;p30"/>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Frontend</a:t>
            </a:r>
            <a:endParaRPr/>
          </a:p>
        </p:txBody>
      </p:sp>
      <p:pic>
        <p:nvPicPr>
          <p:cNvPr id="211" name="Google Shape;211;p30"/>
          <p:cNvPicPr preferRelativeResize="0"/>
          <p:nvPr/>
        </p:nvPicPr>
        <p:blipFill>
          <a:blip r:embed="rId3">
            <a:alphaModFix/>
          </a:blip>
          <a:stretch>
            <a:fillRect/>
          </a:stretch>
        </p:blipFill>
        <p:spPr>
          <a:xfrm>
            <a:off x="2796475" y="224225"/>
            <a:ext cx="6132050" cy="2634801"/>
          </a:xfrm>
          <a:prstGeom prst="rect">
            <a:avLst/>
          </a:prstGeom>
          <a:noFill/>
          <a:ln>
            <a:noFill/>
          </a:ln>
        </p:spPr>
      </p:pic>
      <p:sp>
        <p:nvSpPr>
          <p:cNvPr id="212" name="Google Shape;212;p30"/>
          <p:cNvSpPr txBox="1"/>
          <p:nvPr/>
        </p:nvSpPr>
        <p:spPr>
          <a:xfrm>
            <a:off x="266275" y="3041250"/>
            <a:ext cx="8619300" cy="1913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Streamlit for their simplicity, interactivity, and fast deployment capabilities.</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Minimalistic</a:t>
            </a:r>
            <a:r>
              <a:rPr lang="en" sz="1800">
                <a:solidFill>
                  <a:schemeClr val="dk2"/>
                </a:solidFill>
                <a:latin typeface="Roboto"/>
                <a:ea typeface="Roboto"/>
                <a:cs typeface="Roboto"/>
                <a:sym typeface="Roboto"/>
              </a:rPr>
              <a:t> and user </a:t>
            </a:r>
            <a:r>
              <a:rPr lang="en" sz="1800">
                <a:solidFill>
                  <a:schemeClr val="dk2"/>
                </a:solidFill>
                <a:latin typeface="Roboto"/>
                <a:ea typeface="Roboto"/>
                <a:cs typeface="Roboto"/>
                <a:sym typeface="Roboto"/>
              </a:rPr>
              <a:t>friendly</a:t>
            </a:r>
            <a:r>
              <a:rPr lang="en" sz="1800">
                <a:solidFill>
                  <a:schemeClr val="dk2"/>
                </a:solidFill>
                <a:latin typeface="Roboto"/>
                <a:ea typeface="Roboto"/>
                <a:cs typeface="Roboto"/>
                <a:sym typeface="Roboto"/>
              </a:rPr>
              <a:t> UI.</a:t>
            </a:r>
            <a:endParaRPr sz="1800">
              <a:solidFill>
                <a:schemeClr val="dk2"/>
              </a:solidFill>
              <a:latin typeface="Roboto"/>
              <a:ea typeface="Roboto"/>
              <a:cs typeface="Roboto"/>
              <a:sym typeface="Roboto"/>
            </a:endParaRPr>
          </a:p>
          <a:p>
            <a:pPr indent="-342900" lvl="0" marL="457200" rtl="0" algn="l">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Easy deployment from </a:t>
            </a:r>
            <a:r>
              <a:rPr lang="en" sz="1800">
                <a:solidFill>
                  <a:schemeClr val="dk2"/>
                </a:solidFill>
                <a:latin typeface="Roboto"/>
                <a:ea typeface="Roboto"/>
                <a:cs typeface="Roboto"/>
                <a:sym typeface="Roboto"/>
              </a:rPr>
              <a:t>Hugging Face</a:t>
            </a:r>
            <a:r>
              <a:rPr lang="en" sz="1800">
                <a:solidFill>
                  <a:schemeClr val="dk2"/>
                </a:solidFill>
                <a:latin typeface="Roboto"/>
                <a:ea typeface="Roboto"/>
                <a:cs typeface="Roboto"/>
                <a:sym typeface="Roboto"/>
              </a:rPr>
              <a:t>.</a:t>
            </a:r>
            <a:endParaRPr sz="1800">
              <a:solidFill>
                <a:schemeClr val="dk2"/>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